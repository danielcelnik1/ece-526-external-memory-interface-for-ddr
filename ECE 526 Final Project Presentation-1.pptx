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89" r:id="rId7"/>
    <p:sldId id="290" r:id="rId8"/>
    <p:sldId id="278" r:id="rId9"/>
    <p:sldId id="291" r:id="rId10"/>
    <p:sldId id="258" r:id="rId11"/>
    <p:sldId id="279" r:id="rId12"/>
    <p:sldId id="280" r:id="rId13"/>
    <p:sldId id="292" r:id="rId14"/>
    <p:sldId id="284" r:id="rId15"/>
    <p:sldId id="293" r:id="rId16"/>
    <p:sldId id="285" r:id="rId17"/>
    <p:sldId id="286" r:id="rId18"/>
    <p:sldId id="287" r:id="rId19"/>
    <p:sldId id="294" r:id="rId20"/>
    <p:sldId id="295" r:id="rId21"/>
    <p:sldId id="283" r:id="rId22"/>
    <p:sldId id="271" r:id="rId23"/>
    <p:sldId id="2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18" autoAdjust="0"/>
    <p:restoredTop sz="90655" autoAdjust="0"/>
  </p:normalViewPr>
  <p:slideViewPr>
    <p:cSldViewPr snapToGrid="0">
      <p:cViewPr varScale="1">
        <p:scale>
          <a:sx n="72" d="100"/>
          <a:sy n="72" d="100"/>
        </p:scale>
        <p:origin x="255" y="39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5BEBD-303D-BCFA-EE4A-984A29AC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B9304-6B04-7D2F-A4E5-4E85F9BCA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CDF37-1F76-34F4-9854-39218D46D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38A80-8AA1-F73B-9798-3BA0C5861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990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2F7CB-65B9-BC79-CC75-5731E749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1FF44-074C-5136-0989-7265532EB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CE0EA-A1FE-8F92-ECAF-8290094DF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DEB1C-4445-112C-11B4-B298E4B30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62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E7A23-A06A-CCCA-BD8D-6FCBC94F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55CC0-E0BA-D714-A1DB-16C230A0B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78A13-B33B-E31B-B578-056684D1C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AB8F0-EE62-97E9-1ACD-B70A85423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114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8779-BA12-D037-F618-24F7091A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E157B-BB9D-70B1-282E-AA5D3898D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64492-4905-7DDC-941B-A6D796AF8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62832-33AE-12A9-7951-5C7124074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104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3442-825D-1FFE-AAD3-C7DC6B71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BDEFC-447E-F17D-F5F4-ADE4F53D4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4A273-F19D-B8FE-632D-D80B907CD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85781-C8E9-725F-EBB3-2F63B96AD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0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459388"/>
            <a:ext cx="12192000" cy="3200400"/>
          </a:xfrm>
        </p:spPr>
        <p:txBody>
          <a:bodyPr anchor="ctr"/>
          <a:lstStyle/>
          <a:p>
            <a:pPr algn="ctr"/>
            <a:r>
              <a:rPr lang="en-US" sz="3200" dirty="0"/>
              <a:t>ECE 526 Final Project Presentation</a:t>
            </a:r>
            <a:br>
              <a:rPr lang="en-US" sz="3200" dirty="0"/>
            </a:br>
            <a:r>
              <a:rPr lang="en-US" sz="3200" dirty="0"/>
              <a:t>By: Daniel Celnik</a:t>
            </a:r>
            <a:br>
              <a:rPr lang="en-US" sz="3200" dirty="0"/>
            </a:br>
            <a:r>
              <a:rPr lang="en-US" sz="3200" dirty="0"/>
              <a:t>Instructor: </a:t>
            </a:r>
            <a:r>
              <a:rPr lang="en-US" sz="3200" dirty="0" err="1"/>
              <a:t>orod</a:t>
            </a:r>
            <a:r>
              <a:rPr lang="en-US" sz="3200" dirty="0"/>
              <a:t> </a:t>
            </a:r>
            <a:r>
              <a:rPr lang="en-US" sz="3200" dirty="0" err="1"/>
              <a:t>haghighiara</a:t>
            </a:r>
            <a:endParaRPr lang="en-US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3D0B99-5ACB-6FFB-45C9-2B98072110B5}"/>
              </a:ext>
            </a:extLst>
          </p:cNvPr>
          <p:cNvSpPr txBox="1">
            <a:spLocks/>
          </p:cNvSpPr>
          <p:nvPr/>
        </p:nvSpPr>
        <p:spPr>
          <a:xfrm>
            <a:off x="7283116" y="1828800"/>
            <a:ext cx="4547937" cy="3200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b="1" dirty="0"/>
              <a:t>External memory controller for </a:t>
            </a:r>
            <a:r>
              <a:rPr lang="en-US" sz="4400" b="1" dirty="0" err="1"/>
              <a:t>ddr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DDR3 Introduction</a:t>
            </a:r>
          </a:p>
          <a:p>
            <a:r>
              <a:rPr lang="en-US" dirty="0"/>
              <a:t>Project Overview</a:t>
            </a:r>
          </a:p>
          <a:p>
            <a:r>
              <a:rPr lang="en-US" dirty="0"/>
              <a:t>Design Methodology and Results (4 Versions)        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  <a:p>
            <a:r>
              <a:rPr lang="en-US" dirty="0"/>
              <a:t>Appendix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7CAE-6CCC-D9CD-3FFE-D308AFE8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-890430"/>
            <a:ext cx="9953308" cy="1780860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764C67-F0EF-8139-EB3B-3EFF91B6135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31520" y="1146675"/>
            <a:ext cx="4502678" cy="52096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DDR3?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Double Data Rate Type 3 Synchronous Dynamic Random-Access Memory (SDRAM)</a:t>
            </a:r>
          </a:p>
          <a:p>
            <a:pPr marL="0" indent="0">
              <a:buNone/>
            </a:pPr>
            <a:r>
              <a:rPr lang="en-US" dirty="0"/>
              <a:t>Key DDR3 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throughput (Gb/s bandwidth)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Burst-oriented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Pipelined architecture</a:t>
            </a:r>
          </a:p>
          <a:p>
            <a:pPr marL="0" indent="0">
              <a:buNone/>
            </a:pPr>
            <a:r>
              <a:rPr lang="en-US" dirty="0"/>
              <a:t>Why Model DDR3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latency, burst operations, and FIFO queueing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Preparing for FPGA or SoC integration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close-up of a computer chip&#10;&#10;AI-generated content may be incorrect.">
            <a:extLst>
              <a:ext uri="{FF2B5EF4-FFF2-40B4-BE49-F238E27FC236}">
                <a16:creationId xmlns:a16="http://schemas.microsoft.com/office/drawing/2014/main" id="{2410A83F-DC00-B44A-E208-97D376572C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88" b="1"/>
          <a:stretch/>
        </p:blipFill>
        <p:spPr>
          <a:xfrm>
            <a:off x="5234198" y="0"/>
            <a:ext cx="6957802" cy="383032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184F-4615-D795-7A49-212BB92A92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7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F72C0-7B6E-B14C-24BB-3ECD0F37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346" y="501652"/>
            <a:ext cx="9953308" cy="470221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F7FE8-8835-BE94-0764-EB4AE8534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1142237"/>
            <a:ext cx="2722880" cy="351284"/>
          </a:xfrm>
        </p:spPr>
        <p:txBody>
          <a:bodyPr/>
          <a:lstStyle/>
          <a:p>
            <a:r>
              <a:rPr lang="en-US" dirty="0"/>
              <a:t>What I Implemented: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52E08-0534-F505-2A6E-60CD6A1DDBC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1663885"/>
            <a:ext cx="2722880" cy="487915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Behavioral DDR3 model simulating latency and burst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Burst-capable memory controller FSM for read/write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Register-based front-end interface (like AXI-lite bus protocol style control)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stress testbench verifying hundreds of burst transactions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51AE7-3488-F61B-BFE8-E49B722A525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1142237"/>
            <a:ext cx="2072639" cy="351284"/>
          </a:xfrm>
        </p:spPr>
        <p:txBody>
          <a:bodyPr/>
          <a:lstStyle/>
          <a:p>
            <a:r>
              <a:rPr lang="en-US" dirty="0"/>
              <a:t>Key Features: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E9396-2D1C-E933-E2CA-E76DBE07555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18001" y="1663885"/>
            <a:ext cx="2509519" cy="46924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4-word burst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measurement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Pseudo-random pattern generation (XOR)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CPU-style register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Exhaustive pass/fail tracking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7F4E9-74B5-6A44-63BA-CF196CC966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C9167B-62F4-054B-DEB5-6BB6DB70E63C}"/>
              </a:ext>
            </a:extLst>
          </p:cNvPr>
          <p:cNvSpPr txBox="1">
            <a:spLocks/>
          </p:cNvSpPr>
          <p:nvPr/>
        </p:nvSpPr>
        <p:spPr>
          <a:xfrm>
            <a:off x="7518401" y="1197354"/>
            <a:ext cx="2072639" cy="3512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End Result: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37381AB-2B07-E752-EA51-1335AF439866}"/>
              </a:ext>
            </a:extLst>
          </p:cNvPr>
          <p:cNvSpPr txBox="1">
            <a:spLocks/>
          </p:cNvSpPr>
          <p:nvPr/>
        </p:nvSpPr>
        <p:spPr>
          <a:xfrm>
            <a:off x="7518401" y="1641210"/>
            <a:ext cx="2509519" cy="4692463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modular, realistic memory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automated simulation with success/failure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Expandable for future AXI-lite or custom bus systems</a:t>
            </a:r>
          </a:p>
        </p:txBody>
      </p:sp>
    </p:spTree>
    <p:extLst>
      <p:ext uri="{BB962C8B-B14F-4D97-AF65-F5344CB8AC3E}">
        <p14:creationId xmlns:p14="http://schemas.microsoft.com/office/powerpoint/2010/main" val="25355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0880" y="-2693062"/>
            <a:ext cx="10378757" cy="3403158"/>
          </a:xfrm>
        </p:spPr>
        <p:txBody>
          <a:bodyPr/>
          <a:lstStyle/>
          <a:p>
            <a:r>
              <a:rPr lang="en-US" dirty="0"/>
              <a:t>Version 1 -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B614E-71D0-EA3A-D86D-62D762BA6B88}"/>
              </a:ext>
            </a:extLst>
          </p:cNvPr>
          <p:cNvSpPr txBox="1">
            <a:spLocks/>
          </p:cNvSpPr>
          <p:nvPr/>
        </p:nvSpPr>
        <p:spPr>
          <a:xfrm>
            <a:off x="489268" y="527216"/>
            <a:ext cx="4844732" cy="61479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ddr3_module: </a:t>
            </a:r>
          </a:p>
          <a:p>
            <a:pPr lvl="1"/>
            <a:r>
              <a:rPr lang="en-US" dirty="0"/>
              <a:t>The memory module itself</a:t>
            </a:r>
          </a:p>
          <a:p>
            <a:r>
              <a:rPr lang="en-US" dirty="0"/>
              <a:t>ddr3_interface: </a:t>
            </a:r>
          </a:p>
          <a:p>
            <a:pPr lvl="1"/>
            <a:r>
              <a:rPr lang="en-US" dirty="0"/>
              <a:t>Cross-coupled with ddr3_module</a:t>
            </a:r>
          </a:p>
          <a:p>
            <a:pPr lvl="1"/>
            <a:r>
              <a:rPr lang="en-US" dirty="0"/>
              <a:t>Acts as a master controller for the memory</a:t>
            </a:r>
          </a:p>
          <a:p>
            <a:r>
              <a:rPr lang="en-US" dirty="0"/>
              <a:t>ddr3_full_system_tb:</a:t>
            </a:r>
          </a:p>
          <a:p>
            <a:pPr lvl="1"/>
            <a:r>
              <a:rPr lang="en-US" dirty="0"/>
              <a:t>top-level module that instantiates and simulates the memory + controller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4FD10-3E7D-5B1E-BB8B-7565E72BD5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9" t="2107" r="950" b="7657"/>
          <a:stretch/>
        </p:blipFill>
        <p:spPr>
          <a:xfrm>
            <a:off x="5334000" y="710096"/>
            <a:ext cx="6880861" cy="614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361E-33B3-4B77-0579-6B8AEBA09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60188"/>
            <a:ext cx="4179570" cy="813462"/>
          </a:xfrm>
        </p:spPr>
        <p:txBody>
          <a:bodyPr/>
          <a:lstStyle/>
          <a:p>
            <a:pPr algn="ctr"/>
            <a:r>
              <a:rPr lang="en-US" dirty="0"/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F461A-392D-E53B-BB09-B245C84E300F}"/>
              </a:ext>
            </a:extLst>
          </p:cNvPr>
          <p:cNvSpPr txBox="1">
            <a:spLocks/>
          </p:cNvSpPr>
          <p:nvPr/>
        </p:nvSpPr>
        <p:spPr>
          <a:xfrm>
            <a:off x="407988" y="1056639"/>
            <a:ext cx="4844732" cy="57411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ddr3_module: </a:t>
            </a:r>
          </a:p>
          <a:p>
            <a:pPr lvl="1"/>
            <a:r>
              <a:rPr lang="en-US" dirty="0"/>
              <a:t>Reset, read, and write capabilities</a:t>
            </a:r>
          </a:p>
          <a:p>
            <a:pPr lvl="1"/>
            <a:r>
              <a:rPr lang="en-US" dirty="0"/>
              <a:t>Enabled via control signals from ddr3_interface</a:t>
            </a:r>
          </a:p>
          <a:p>
            <a:pPr lvl="1"/>
            <a:r>
              <a:rPr lang="en-US" dirty="0"/>
              <a:t>Read command has hardcoded latency</a:t>
            </a:r>
          </a:p>
          <a:p>
            <a:r>
              <a:rPr lang="en-US" dirty="0"/>
              <a:t>ddr3_interface: </a:t>
            </a:r>
          </a:p>
          <a:p>
            <a:pPr lvl="1"/>
            <a:r>
              <a:rPr lang="en-US" dirty="0"/>
              <a:t>FSM STATES: idle, write, </a:t>
            </a:r>
            <a:r>
              <a:rPr lang="en-US" dirty="0" err="1"/>
              <a:t>write_wait</a:t>
            </a:r>
            <a:r>
              <a:rPr lang="en-US" dirty="0"/>
              <a:t>, read, </a:t>
            </a:r>
            <a:r>
              <a:rPr lang="en-US" dirty="0" err="1"/>
              <a:t>read_wait</a:t>
            </a:r>
            <a:r>
              <a:rPr lang="en-US" dirty="0"/>
              <a:t>, compare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54C97F-D76F-D501-AC92-BDF115375C56}"/>
              </a:ext>
            </a:extLst>
          </p:cNvPr>
          <p:cNvCxnSpPr>
            <a:cxnSpLocks/>
          </p:cNvCxnSpPr>
          <p:nvPr/>
        </p:nvCxnSpPr>
        <p:spPr>
          <a:xfrm>
            <a:off x="5100320" y="4529013"/>
            <a:ext cx="1391920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1067F56-2092-93D9-AE7F-A6E59A7B626E}"/>
              </a:ext>
            </a:extLst>
          </p:cNvPr>
          <p:cNvSpPr txBox="1">
            <a:spLocks/>
          </p:cNvSpPr>
          <p:nvPr/>
        </p:nvSpPr>
        <p:spPr>
          <a:xfrm>
            <a:off x="6563360" y="1048826"/>
            <a:ext cx="4844732" cy="574117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IDLE: generates expected data via fixed value ^ address</a:t>
            </a:r>
          </a:p>
          <a:p>
            <a:r>
              <a:rPr lang="en-US" dirty="0"/>
              <a:t>WRITE: Signals ddr3_module to write data</a:t>
            </a:r>
          </a:p>
          <a:p>
            <a:r>
              <a:rPr lang="en-US" dirty="0"/>
              <a:t>WRITE_WAIT: waits one clock cycle to ensure stability</a:t>
            </a:r>
          </a:p>
          <a:p>
            <a:r>
              <a:rPr lang="en-US" dirty="0"/>
              <a:t>READ: Signals ddr3_module to read data</a:t>
            </a:r>
          </a:p>
          <a:p>
            <a:r>
              <a:rPr lang="en-US" dirty="0"/>
              <a:t>READ_WAIT: Waits for ddr3_module to return data</a:t>
            </a:r>
          </a:p>
          <a:p>
            <a:r>
              <a:rPr lang="en-US" dirty="0"/>
              <a:t>COMPARE: compares read data with expected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68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" y="819705"/>
            <a:ext cx="5699690" cy="603829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Starting full DDR3 system simulation...</a:t>
            </a:r>
          </a:p>
          <a:p>
            <a:r>
              <a:rPr lang="en-US" dirty="0"/>
              <a:t>[DDR3_MODEL] WRITE to </a:t>
            </a:r>
            <a:r>
              <a:rPr lang="en-US" dirty="0" err="1"/>
              <a:t>addr</a:t>
            </a:r>
            <a:r>
              <a:rPr lang="en-US" dirty="0"/>
              <a:t> 0x0000000 = 0xcafebabedeadbeef1122334455667788</a:t>
            </a:r>
          </a:p>
          <a:p>
            <a:r>
              <a:rPr lang="en-US" dirty="0"/>
              <a:t>[DDR3_MODEL] READ request for </a:t>
            </a:r>
            <a:r>
              <a:rPr lang="en-US" dirty="0" err="1"/>
              <a:t>addr</a:t>
            </a:r>
            <a:r>
              <a:rPr lang="en-US" dirty="0"/>
              <a:t> 0x0000000</a:t>
            </a:r>
          </a:p>
          <a:p>
            <a:r>
              <a:rPr lang="en-US" dirty="0"/>
              <a:t>[DDR3_MODEL] READ response from </a:t>
            </a:r>
            <a:r>
              <a:rPr lang="en-US" dirty="0" err="1"/>
              <a:t>addr</a:t>
            </a:r>
            <a:r>
              <a:rPr lang="en-US" dirty="0"/>
              <a:t> 0x0000000 = 0xcafebabedeadbeef1122334455667788</a:t>
            </a:r>
          </a:p>
          <a:p>
            <a:r>
              <a:rPr lang="en-US" dirty="0"/>
              <a:t>[DDR3_MODEL] WRITE to </a:t>
            </a:r>
            <a:r>
              <a:rPr lang="en-US" dirty="0" err="1"/>
              <a:t>addr</a:t>
            </a:r>
            <a:r>
              <a:rPr lang="en-US" dirty="0"/>
              <a:t> 0x0000001 = 0xcafebabedeadbeef1122334455667789</a:t>
            </a:r>
          </a:p>
          <a:p>
            <a:r>
              <a:rPr lang="en-US" dirty="0"/>
              <a:t>[DDR3_MODEL] READ request for </a:t>
            </a:r>
            <a:r>
              <a:rPr lang="en-US" dirty="0" err="1"/>
              <a:t>addr</a:t>
            </a:r>
            <a:r>
              <a:rPr lang="en-US" dirty="0"/>
              <a:t> 0x0000001</a:t>
            </a:r>
          </a:p>
          <a:p>
            <a:r>
              <a:rPr lang="en-US" dirty="0"/>
              <a:t>[DDR3_MODEL] READ response from </a:t>
            </a:r>
            <a:r>
              <a:rPr lang="en-US" dirty="0" err="1"/>
              <a:t>addr</a:t>
            </a:r>
            <a:r>
              <a:rPr lang="en-US" dirty="0"/>
              <a:t> 0x0000001 = 0xcafebabedeadbeef1122334455667789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[DDR3_MODEL] WRITE to </a:t>
            </a:r>
            <a:r>
              <a:rPr lang="en-US" dirty="0" err="1"/>
              <a:t>addr</a:t>
            </a:r>
            <a:r>
              <a:rPr lang="en-US" dirty="0"/>
              <a:t> 0x000001f = 0xcafebabedeadbeef1122334455667797</a:t>
            </a:r>
          </a:p>
          <a:p>
            <a:r>
              <a:rPr lang="en-US" dirty="0"/>
              <a:t>[DDR3_MODEL] READ request for </a:t>
            </a:r>
            <a:r>
              <a:rPr lang="en-US" dirty="0" err="1"/>
              <a:t>addr</a:t>
            </a:r>
            <a:r>
              <a:rPr lang="en-US" dirty="0"/>
              <a:t> 0x000001f</a:t>
            </a:r>
          </a:p>
          <a:p>
            <a:r>
              <a:rPr lang="en-US" dirty="0"/>
              <a:t>[DDR3_MODEL] READ response from </a:t>
            </a:r>
            <a:r>
              <a:rPr lang="en-US" dirty="0" err="1"/>
              <a:t>addr</a:t>
            </a:r>
            <a:r>
              <a:rPr lang="en-US" dirty="0"/>
              <a:t> 0x000001f = 0xcafebabedeadbeef1122334455667797</a:t>
            </a:r>
          </a:p>
          <a:p>
            <a:r>
              <a:rPr lang="en-US" dirty="0"/>
              <a:t>✅ TEST PASSED: All transfers correct.</a:t>
            </a:r>
          </a:p>
          <a:p>
            <a:r>
              <a:rPr lang="en-US" dirty="0"/>
              <a:t>Transfers: 32, Total Latency: 256 cycles, Avg Latency: 8.00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153454-E938-2327-6CD0-9E1F8FA7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1080"/>
            <a:ext cx="7288282" cy="625720"/>
          </a:xfrm>
        </p:spPr>
        <p:txBody>
          <a:bodyPr>
            <a:normAutofit/>
          </a:bodyPr>
          <a:lstStyle/>
          <a:p>
            <a:r>
              <a:rPr lang="en-US" sz="3600" dirty="0"/>
              <a:t>simulation results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06A7BD-3781-3DFA-8ADE-2D5FBC898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349" y="875150"/>
            <a:ext cx="7189651" cy="510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1680" y="0"/>
            <a:ext cx="6243320" cy="85576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Version 2 - Concept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B71F084-FDD7-02AC-AC9A-732837A9C7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99"/>
          <a:stretch/>
        </p:blipFill>
        <p:spPr>
          <a:xfrm>
            <a:off x="0" y="1"/>
            <a:ext cx="6167119" cy="6858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3ABAE2C-4621-55EB-197A-7F8014268A2D}"/>
              </a:ext>
            </a:extLst>
          </p:cNvPr>
          <p:cNvSpPr txBox="1">
            <a:spLocks/>
          </p:cNvSpPr>
          <p:nvPr/>
        </p:nvSpPr>
        <p:spPr>
          <a:xfrm>
            <a:off x="6167119" y="1110405"/>
            <a:ext cx="6024881" cy="574117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Added Burst Read/Write Support</a:t>
            </a:r>
          </a:p>
          <a:p>
            <a:r>
              <a:rPr lang="en-US" dirty="0"/>
              <a:t>ddr3_module: </a:t>
            </a:r>
          </a:p>
          <a:p>
            <a:pPr lvl="1"/>
            <a:r>
              <a:rPr lang="en-US" dirty="0"/>
              <a:t>Added FIFO to handle queuing of bursts</a:t>
            </a:r>
          </a:p>
          <a:p>
            <a:r>
              <a:rPr lang="en-US" dirty="0"/>
              <a:t>ddr3_interface: </a:t>
            </a:r>
          </a:p>
          <a:p>
            <a:pPr lvl="1"/>
            <a:r>
              <a:rPr lang="en-US" dirty="0"/>
              <a:t>FSM STATES: idle, write, </a:t>
            </a:r>
            <a:r>
              <a:rPr lang="en-US" dirty="0" err="1"/>
              <a:t>write_burst</a:t>
            </a:r>
            <a:r>
              <a:rPr lang="en-US" dirty="0"/>
              <a:t>, </a:t>
            </a:r>
            <a:r>
              <a:rPr lang="en-US" dirty="0" err="1"/>
              <a:t>wait_before_read</a:t>
            </a:r>
            <a:r>
              <a:rPr lang="en-US" dirty="0"/>
              <a:t>, read, </a:t>
            </a:r>
            <a:r>
              <a:rPr lang="en-US" dirty="0" err="1"/>
              <a:t>read_burst</a:t>
            </a:r>
            <a:r>
              <a:rPr lang="en-US" dirty="0"/>
              <a:t>, compare</a:t>
            </a: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9810" y="0"/>
            <a:ext cx="7612380" cy="7213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simulation results - Waves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3C85DF-4EA8-6D5B-4BFB-D9B82C0FB0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39" b="6293"/>
          <a:stretch/>
        </p:blipFill>
        <p:spPr>
          <a:xfrm>
            <a:off x="0" y="692208"/>
            <a:ext cx="12192000" cy="623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DA77-E167-EC66-1A18-5715A0C0E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4240" y="0"/>
            <a:ext cx="7482840" cy="82653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simulation results - log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81605-9B09-1812-8A26-07AB6210B2B1}"/>
              </a:ext>
            </a:extLst>
          </p:cNvPr>
          <p:cNvSpPr/>
          <p:nvPr/>
        </p:nvSpPr>
        <p:spPr>
          <a:xfrm>
            <a:off x="6471922" y="741512"/>
            <a:ext cx="5012078" cy="60480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77B03-878A-65F8-1D7E-31B40FB19E5A}"/>
              </a:ext>
            </a:extLst>
          </p:cNvPr>
          <p:cNvSpPr/>
          <p:nvPr/>
        </p:nvSpPr>
        <p:spPr>
          <a:xfrm>
            <a:off x="0" y="741512"/>
            <a:ext cx="6471922" cy="6048088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3243A-E7CA-EE74-09AC-C7370C7A836B}"/>
              </a:ext>
            </a:extLst>
          </p:cNvPr>
          <p:cNvSpPr txBox="1">
            <a:spLocks/>
          </p:cNvSpPr>
          <p:nvPr/>
        </p:nvSpPr>
        <p:spPr>
          <a:xfrm>
            <a:off x="447040" y="784022"/>
            <a:ext cx="6024882" cy="58402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Starting full DDR3 system simulation with burst support...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== New Burst @ Address 0x00000000 ==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[WRITE] </a:t>
            </a:r>
            <a:r>
              <a:rPr lang="en-US" sz="1400" dirty="0" err="1"/>
              <a:t>Addr</a:t>
            </a:r>
            <a:r>
              <a:rPr lang="en-US" sz="1400" dirty="0"/>
              <a:t>: 0x00000000 Data: 0xcafebabedeadbeef1122334455667788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[WRITE] </a:t>
            </a:r>
            <a:r>
              <a:rPr lang="en-US" sz="1400" dirty="0" err="1"/>
              <a:t>Addr</a:t>
            </a:r>
            <a:r>
              <a:rPr lang="en-US" sz="1400" dirty="0"/>
              <a:t>: 0000000 Data: cafebabedeadbeef1122334455667788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[WRITE] </a:t>
            </a:r>
            <a:r>
              <a:rPr lang="en-US" sz="1400" dirty="0" err="1"/>
              <a:t>Addr</a:t>
            </a:r>
            <a:r>
              <a:rPr lang="en-US" sz="1400" dirty="0"/>
              <a:t>: 0x00000001 Data: 0xcafebabedeadbeef1122334455667789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[WRITE] </a:t>
            </a:r>
            <a:r>
              <a:rPr lang="en-US" sz="1400" dirty="0" err="1"/>
              <a:t>Addr</a:t>
            </a:r>
            <a:r>
              <a:rPr lang="en-US" sz="1400" dirty="0"/>
              <a:t>: 0000001 Data: cafebabedeadbeef1122334455667789  [WRITE] </a:t>
            </a:r>
            <a:r>
              <a:rPr lang="en-US" sz="1400" dirty="0" err="1"/>
              <a:t>Addr</a:t>
            </a:r>
            <a:r>
              <a:rPr lang="en-US" sz="1400" dirty="0"/>
              <a:t>: 0x00000002 Data: 0xcafebabedeadbeef112233445566778a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[WRITE] </a:t>
            </a:r>
            <a:r>
              <a:rPr lang="en-US" sz="1400" dirty="0" err="1"/>
              <a:t>Addr</a:t>
            </a:r>
            <a:r>
              <a:rPr lang="en-US" sz="1400" dirty="0"/>
              <a:t>: 0000002 Data: cafebabedeadbeef112233445566778a  [WRITE] </a:t>
            </a:r>
            <a:r>
              <a:rPr lang="en-US" sz="1400" dirty="0" err="1"/>
              <a:t>Addr</a:t>
            </a:r>
            <a:r>
              <a:rPr lang="en-US" sz="1400" dirty="0"/>
              <a:t>: 0x00000003 Data: 0xcafebabedeadbeef112233445566778b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[WRITE] </a:t>
            </a:r>
            <a:r>
              <a:rPr lang="en-US" sz="1400" dirty="0" err="1"/>
              <a:t>Addr</a:t>
            </a:r>
            <a:r>
              <a:rPr lang="en-US" sz="1400" dirty="0"/>
              <a:t>: 0000003 Data: cafebabedeadbeef112233445566778b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[READ ] Starting burst read @ Address 0x00000000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[READ ] </a:t>
            </a:r>
            <a:r>
              <a:rPr lang="en-US" sz="1400" dirty="0" err="1"/>
              <a:t>Addr</a:t>
            </a:r>
            <a:r>
              <a:rPr lang="en-US" sz="1400" dirty="0"/>
              <a:t>: 0000000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[READ ] </a:t>
            </a:r>
            <a:r>
              <a:rPr lang="en-US" sz="1400" dirty="0" err="1"/>
              <a:t>Addr</a:t>
            </a:r>
            <a:r>
              <a:rPr lang="en-US" sz="1400" dirty="0"/>
              <a:t>: 0000001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[READ ] </a:t>
            </a:r>
            <a:r>
              <a:rPr lang="en-US" sz="1400" dirty="0" err="1"/>
              <a:t>Addr</a:t>
            </a:r>
            <a:r>
              <a:rPr lang="en-US" sz="1400" dirty="0"/>
              <a:t>: 0000002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[READ ] </a:t>
            </a:r>
            <a:r>
              <a:rPr lang="en-US" sz="1400" dirty="0" err="1"/>
              <a:t>Addr</a:t>
            </a:r>
            <a:r>
              <a:rPr lang="en-US" sz="1400" dirty="0"/>
              <a:t>: 0000003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[RD_VALID] Data: cafebabedeadbeef1122334455667788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[READ ] </a:t>
            </a:r>
            <a:r>
              <a:rPr lang="en-US" sz="1400" dirty="0" err="1"/>
              <a:t>Addr</a:t>
            </a:r>
            <a:r>
              <a:rPr lang="en-US" sz="1400" dirty="0"/>
              <a:t>: 0x00000000 OK   Data: 0xcafebabedeadbeef1122334455667788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[RD_VALID] Data: cafebabedeadbeef1122334455667789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45B99-3C73-7740-3FD1-F0ECF6DB2D46}"/>
              </a:ext>
            </a:extLst>
          </p:cNvPr>
          <p:cNvSpPr txBox="1"/>
          <p:nvPr/>
        </p:nvSpPr>
        <p:spPr>
          <a:xfrm>
            <a:off x="6532880" y="869041"/>
            <a:ext cx="56591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[READ ] </a:t>
            </a:r>
            <a:r>
              <a:rPr lang="en-US" sz="1500" dirty="0" err="1"/>
              <a:t>Addr</a:t>
            </a:r>
            <a:r>
              <a:rPr lang="en-US" sz="1500" dirty="0"/>
              <a:t>: 0x00000001 OK   Data: 0xcafebabedeadbeef1122334455667789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[RD_VALID] Data: cafebabedeadbeef112233445566778a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[READ ] </a:t>
            </a:r>
            <a:r>
              <a:rPr lang="en-US" sz="1500" dirty="0" err="1"/>
              <a:t>Addr</a:t>
            </a:r>
            <a:r>
              <a:rPr lang="en-US" sz="1500" dirty="0"/>
              <a:t>: 0x00000002 OK   Data: 0xcafebabedeadbeef112233445566778a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[RD_VALID] Data: cafebabedeadbeef112233445566778b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[READ ] </a:t>
            </a:r>
            <a:r>
              <a:rPr lang="en-US" sz="1500" dirty="0" err="1"/>
              <a:t>Addr</a:t>
            </a:r>
            <a:r>
              <a:rPr lang="en-US" sz="1500" dirty="0"/>
              <a:t>: 0x00000003 OK   Data: 0xcafebabedeadbeef112233445566778b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\n== New Burst @ Address 0x00000004 ==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[RD_VALID] Data: cafebabedeadbeef1122334455667794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[READ ] </a:t>
            </a:r>
            <a:r>
              <a:rPr lang="en-US" sz="1500" dirty="0" err="1"/>
              <a:t>Addr</a:t>
            </a:r>
            <a:r>
              <a:rPr lang="en-US" sz="1500" dirty="0"/>
              <a:t>: 0x0000001c OK   Data: 0xcafebabedeadbeef1122334455667794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[RD_VALID] Data: cafebabedeadbeef1122334455667795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[READ ] </a:t>
            </a:r>
            <a:r>
              <a:rPr lang="en-US" sz="1500" dirty="0" err="1"/>
              <a:t>Addr</a:t>
            </a:r>
            <a:r>
              <a:rPr lang="en-US" sz="1500" dirty="0"/>
              <a:t>: 0x0000001d OK   Data: 0xcafebabedeadbeef1122334455667795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[RD_VALID] Data: cafebabedeadbeef1122334455667796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[READ ] </a:t>
            </a:r>
            <a:r>
              <a:rPr lang="en-US" sz="1500" dirty="0" err="1"/>
              <a:t>Addr</a:t>
            </a:r>
            <a:r>
              <a:rPr lang="en-US" sz="1500" dirty="0"/>
              <a:t>: 0x0000001e OK   Data: 0xcafebabedeadbeef1122334455667796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[RD_VALID] Data: cafebabedeadbeef1122334455667797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[READ ] </a:t>
            </a:r>
            <a:r>
              <a:rPr lang="en-US" sz="1500" dirty="0" err="1"/>
              <a:t>Addr</a:t>
            </a:r>
            <a:r>
              <a:rPr lang="en-US" sz="1500" dirty="0"/>
              <a:t>: 0x0000001f OK   Data: 0xcafebabedeadbeef1122334455667797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✅ TEST PASSED: All transfers correct.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/>
              <a:t>Transfers: 32, Total Latency: 208 cycles, Avg Latency: 6.50</a:t>
            </a:r>
          </a:p>
        </p:txBody>
      </p:sp>
    </p:spTree>
    <p:extLst>
      <p:ext uri="{BB962C8B-B14F-4D97-AF65-F5344CB8AC3E}">
        <p14:creationId xmlns:p14="http://schemas.microsoft.com/office/powerpoint/2010/main" val="1345712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FF8AD-0374-353B-BD2A-43E899D0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637B7-6CF5-703A-E1F8-BAC0B1A21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1660" y="0"/>
            <a:ext cx="5948680" cy="877332"/>
          </a:xfrm>
        </p:spPr>
        <p:txBody>
          <a:bodyPr/>
          <a:lstStyle/>
          <a:p>
            <a:pPr algn="ctr"/>
            <a:r>
              <a:rPr lang="en-US" dirty="0"/>
              <a:t>Version 3 -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BC59F-566C-304E-CE68-69E4D988941D}"/>
              </a:ext>
            </a:extLst>
          </p:cNvPr>
          <p:cNvSpPr txBox="1">
            <a:spLocks/>
          </p:cNvSpPr>
          <p:nvPr/>
        </p:nvSpPr>
        <p:spPr>
          <a:xfrm>
            <a:off x="92234" y="1483360"/>
            <a:ext cx="4844732" cy="54051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ddr3_module: </a:t>
            </a:r>
          </a:p>
          <a:p>
            <a:pPr lvl="1"/>
            <a:r>
              <a:rPr lang="en-US" dirty="0"/>
              <a:t>No changes</a:t>
            </a:r>
          </a:p>
          <a:p>
            <a:r>
              <a:rPr lang="en-US" dirty="0"/>
              <a:t>ddr3_interface_regctrl: </a:t>
            </a:r>
          </a:p>
          <a:p>
            <a:pPr lvl="1"/>
            <a:r>
              <a:rPr lang="en-US" dirty="0"/>
              <a:t>New reg: </a:t>
            </a:r>
            <a:r>
              <a:rPr lang="en-US" dirty="0" err="1"/>
              <a:t>read_trigger</a:t>
            </a:r>
            <a:r>
              <a:rPr lang="en-US" dirty="0"/>
              <a:t> and </a:t>
            </a:r>
            <a:r>
              <a:rPr lang="en-US" dirty="0" err="1"/>
              <a:t>write_trigger</a:t>
            </a:r>
            <a:endParaRPr lang="en-US" dirty="0"/>
          </a:p>
          <a:p>
            <a:pPr lvl="1"/>
            <a:r>
              <a:rPr lang="en-US" dirty="0"/>
              <a:t>FSM updated: idle, </a:t>
            </a:r>
            <a:r>
              <a:rPr lang="en-US" dirty="0" err="1"/>
              <a:t>issue_write</a:t>
            </a:r>
            <a:r>
              <a:rPr lang="en-US" dirty="0"/>
              <a:t>, </a:t>
            </a:r>
            <a:r>
              <a:rPr lang="en-US" dirty="0" err="1"/>
              <a:t>issue_write_burst</a:t>
            </a:r>
            <a:r>
              <a:rPr lang="en-US" dirty="0"/>
              <a:t>, </a:t>
            </a:r>
            <a:r>
              <a:rPr lang="en-US" dirty="0" err="1"/>
              <a:t>wait_before_read</a:t>
            </a:r>
            <a:r>
              <a:rPr lang="en-US" dirty="0"/>
              <a:t>, </a:t>
            </a:r>
            <a:r>
              <a:rPr lang="en-US" dirty="0" err="1"/>
              <a:t>issue_read</a:t>
            </a:r>
            <a:r>
              <a:rPr lang="en-US" dirty="0"/>
              <a:t>, </a:t>
            </a:r>
            <a:r>
              <a:rPr lang="en-US" dirty="0" err="1"/>
              <a:t>issue_read_burst</a:t>
            </a:r>
            <a:r>
              <a:rPr lang="en-US" dirty="0"/>
              <a:t>, complete</a:t>
            </a:r>
          </a:p>
          <a:p>
            <a:r>
              <a:rPr lang="en-US" dirty="0"/>
              <a:t>ddr3_top:</a:t>
            </a:r>
          </a:p>
          <a:p>
            <a:pPr lvl="1"/>
            <a:r>
              <a:rPr lang="en-US" dirty="0"/>
              <a:t>Sets </a:t>
            </a:r>
            <a:r>
              <a:rPr lang="en-US" dirty="0" err="1"/>
              <a:t>read_trigger</a:t>
            </a:r>
            <a:r>
              <a:rPr lang="en-US" dirty="0"/>
              <a:t> and </a:t>
            </a:r>
            <a:r>
              <a:rPr lang="en-US" dirty="0" err="1"/>
              <a:t>write_trigger</a:t>
            </a:r>
            <a:r>
              <a:rPr lang="en-US" dirty="0"/>
              <a:t> high to begin read/writes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E27CF87-0A15-59B8-1342-BA0BBA234CFF}"/>
              </a:ext>
            </a:extLst>
          </p:cNvPr>
          <p:cNvCxnSpPr>
            <a:cxnSpLocks/>
          </p:cNvCxnSpPr>
          <p:nvPr/>
        </p:nvCxnSpPr>
        <p:spPr>
          <a:xfrm>
            <a:off x="4775200" y="4325813"/>
            <a:ext cx="1320800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B508339-A685-85BE-0465-0B726FCDDC22}"/>
              </a:ext>
            </a:extLst>
          </p:cNvPr>
          <p:cNvSpPr txBox="1">
            <a:spLocks/>
          </p:cNvSpPr>
          <p:nvPr/>
        </p:nvSpPr>
        <p:spPr>
          <a:xfrm>
            <a:off x="6096000" y="2428240"/>
            <a:ext cx="5948680" cy="64156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FSM used to cycle through all its states </a:t>
            </a:r>
          </a:p>
          <a:p>
            <a:r>
              <a:rPr lang="en-US" dirty="0"/>
              <a:t>Now, triggering </a:t>
            </a:r>
            <a:r>
              <a:rPr lang="en-US" dirty="0" err="1"/>
              <a:t>write_trigger</a:t>
            </a:r>
            <a:r>
              <a:rPr lang="en-US" dirty="0"/>
              <a:t> causes: </a:t>
            </a:r>
          </a:p>
          <a:p>
            <a:pPr lvl="1"/>
            <a:r>
              <a:rPr lang="en-US" dirty="0"/>
              <a:t>idle-&gt;</a:t>
            </a:r>
            <a:r>
              <a:rPr lang="en-US" dirty="0" err="1"/>
              <a:t>issue_write</a:t>
            </a:r>
            <a:r>
              <a:rPr lang="en-US" dirty="0"/>
              <a:t>-&gt;</a:t>
            </a:r>
            <a:r>
              <a:rPr lang="en-US" dirty="0" err="1"/>
              <a:t>issue_write_burst</a:t>
            </a:r>
            <a:r>
              <a:rPr lang="en-US" dirty="0"/>
              <a:t>-&gt;</a:t>
            </a:r>
            <a:r>
              <a:rPr lang="en-US" dirty="0" err="1"/>
              <a:t>wait_before_read</a:t>
            </a:r>
            <a:r>
              <a:rPr lang="en-US" dirty="0"/>
              <a:t>-&gt;complete-&gt;idle</a:t>
            </a:r>
          </a:p>
          <a:p>
            <a:r>
              <a:rPr lang="en-US" dirty="0"/>
              <a:t>Triggering </a:t>
            </a:r>
            <a:r>
              <a:rPr lang="en-US" dirty="0" err="1"/>
              <a:t>read_trigger</a:t>
            </a:r>
            <a:r>
              <a:rPr lang="en-US" dirty="0"/>
              <a:t> causes: </a:t>
            </a:r>
          </a:p>
          <a:p>
            <a:pPr lvl="1"/>
            <a:r>
              <a:rPr lang="en-US" dirty="0"/>
              <a:t>idle-&gt;</a:t>
            </a:r>
            <a:r>
              <a:rPr lang="en-US" dirty="0" err="1"/>
              <a:t>issue_read</a:t>
            </a:r>
            <a:r>
              <a:rPr lang="en-US" dirty="0"/>
              <a:t>-&gt;</a:t>
            </a:r>
            <a:r>
              <a:rPr lang="en-US" dirty="0" err="1"/>
              <a:t>issue_read_burst</a:t>
            </a:r>
            <a:r>
              <a:rPr lang="en-US" dirty="0"/>
              <a:t>-&gt;complete-&gt;idle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7DEB18-F7D1-DEC4-591A-47AC40C2ECAB}"/>
              </a:ext>
            </a:extLst>
          </p:cNvPr>
          <p:cNvSpPr txBox="1"/>
          <p:nvPr/>
        </p:nvSpPr>
        <p:spPr>
          <a:xfrm>
            <a:off x="3042920" y="960140"/>
            <a:ext cx="610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Added Register-Based Front-End</a:t>
            </a:r>
          </a:p>
        </p:txBody>
      </p:sp>
    </p:spTree>
    <p:extLst>
      <p:ext uri="{BB962C8B-B14F-4D97-AF65-F5344CB8AC3E}">
        <p14:creationId xmlns:p14="http://schemas.microsoft.com/office/powerpoint/2010/main" val="2068202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119A-E2DD-388F-CF5C-910D1DE59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859" y="143431"/>
            <a:ext cx="7288282" cy="544440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simulation results - waves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23F6E-E9F4-8B75-5495-74992D9D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06BF7F-95E9-8D04-C51A-E537004DE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870"/>
            <a:ext cx="12192000" cy="617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54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2484-E625-F236-72D4-432ED4F77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576A-E8F6-1874-0541-6BB193E5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574920"/>
          </a:xfrm>
        </p:spPr>
        <p:txBody>
          <a:bodyPr>
            <a:normAutofit/>
          </a:bodyPr>
          <a:lstStyle/>
          <a:p>
            <a:r>
              <a:rPr lang="en-US" sz="3200" dirty="0"/>
              <a:t>Simulation Results - log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DA2C597-CA19-A50F-89C9-F4A0144D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6C2E4-BAC1-BFCF-B646-A558C0C31ED3}"/>
              </a:ext>
            </a:extLst>
          </p:cNvPr>
          <p:cNvSpPr txBox="1"/>
          <p:nvPr/>
        </p:nvSpPr>
        <p:spPr>
          <a:xfrm>
            <a:off x="670560" y="957328"/>
            <a:ext cx="103733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Starting full DDR3 register interface test...</a:t>
            </a:r>
          </a:p>
          <a:p>
            <a:r>
              <a:rPr lang="en-US" dirty="0"/>
              <a:t>[REGCTRL] Write trigger received. Starting burst write at </a:t>
            </a:r>
            <a:r>
              <a:rPr lang="en-US" dirty="0" err="1"/>
              <a:t>addr</a:t>
            </a:r>
            <a:r>
              <a:rPr lang="en-US" dirty="0"/>
              <a:t> 0x00000000</a:t>
            </a:r>
          </a:p>
          <a:p>
            <a:r>
              <a:rPr lang="en-US" dirty="0"/>
              <a:t>[REGCTRL] WRITE 0x00000000 = 0xcafebabedeadbeef1122334455667788</a:t>
            </a:r>
          </a:p>
          <a:p>
            <a:r>
              <a:rPr lang="en-US" dirty="0"/>
              <a:t>[REGCTRL] WRITE 0x00000001 = 0xcafebabedeadbeef1122334455667789</a:t>
            </a:r>
          </a:p>
          <a:p>
            <a:r>
              <a:rPr lang="en-US" dirty="0"/>
              <a:t>[REGCTRL] WRITE 0x00000002 = 0xcafebabedeadbeef112233445566778a</a:t>
            </a:r>
          </a:p>
          <a:p>
            <a:r>
              <a:rPr lang="en-US" dirty="0"/>
              <a:t>[REGCTRL] WRITE 0x00000003 = 0xcafebabedeadbeef112233445566778b</a:t>
            </a:r>
          </a:p>
          <a:p>
            <a:r>
              <a:rPr lang="en-US" dirty="0"/>
              <a:t>[REGCTRL] Write burst complete.</a:t>
            </a:r>
          </a:p>
          <a:p>
            <a:r>
              <a:rPr lang="en-US" dirty="0"/>
              <a:t>[REGCTRL] Returning to IDLE.</a:t>
            </a:r>
          </a:p>
          <a:p>
            <a:r>
              <a:rPr lang="en-US" dirty="0"/>
              <a:t>[REGCTRL] Read trigger received. Starting burst read at </a:t>
            </a:r>
            <a:r>
              <a:rPr lang="en-US" dirty="0" err="1"/>
              <a:t>addr</a:t>
            </a:r>
            <a:r>
              <a:rPr lang="en-US" dirty="0"/>
              <a:t> 0x00000000</a:t>
            </a:r>
          </a:p>
          <a:p>
            <a:r>
              <a:rPr lang="en-US" dirty="0"/>
              <a:t>[REGCTRL] READ request for </a:t>
            </a:r>
            <a:r>
              <a:rPr lang="en-US" dirty="0" err="1"/>
              <a:t>addr</a:t>
            </a:r>
            <a:r>
              <a:rPr lang="en-US" dirty="0"/>
              <a:t> 0x00000000</a:t>
            </a:r>
          </a:p>
          <a:p>
            <a:r>
              <a:rPr lang="en-US" dirty="0"/>
              <a:t>[REGCTRL] READ request for </a:t>
            </a:r>
            <a:r>
              <a:rPr lang="en-US" dirty="0" err="1"/>
              <a:t>addr</a:t>
            </a:r>
            <a:r>
              <a:rPr lang="en-US" dirty="0"/>
              <a:t> 0x00000001</a:t>
            </a:r>
          </a:p>
          <a:p>
            <a:r>
              <a:rPr lang="en-US" dirty="0"/>
              <a:t>[REGCTRL] READ request for </a:t>
            </a:r>
            <a:r>
              <a:rPr lang="en-US" dirty="0" err="1"/>
              <a:t>addr</a:t>
            </a:r>
            <a:r>
              <a:rPr lang="en-US" dirty="0"/>
              <a:t> 0x00000002</a:t>
            </a:r>
          </a:p>
          <a:p>
            <a:r>
              <a:rPr lang="en-US" dirty="0"/>
              <a:t>[REGCTRL] READ request for </a:t>
            </a:r>
            <a:r>
              <a:rPr lang="en-US" dirty="0" err="1"/>
              <a:t>addr</a:t>
            </a:r>
            <a:r>
              <a:rPr lang="en-US" dirty="0"/>
              <a:t> 0x00000003</a:t>
            </a:r>
          </a:p>
          <a:p>
            <a:r>
              <a:rPr lang="en-US" dirty="0"/>
              <a:t>[REGCTRL] READ OK   </a:t>
            </a:r>
            <a:r>
              <a:rPr lang="en-US" dirty="0" err="1"/>
              <a:t>Addr</a:t>
            </a:r>
            <a:r>
              <a:rPr lang="en-US" dirty="0"/>
              <a:t>: 0x00000000 Data: 0xcafebabedeadbeef1122334455667788</a:t>
            </a:r>
          </a:p>
          <a:p>
            <a:r>
              <a:rPr lang="en-US" dirty="0"/>
              <a:t>[REGCTRL] READ OK   </a:t>
            </a:r>
            <a:r>
              <a:rPr lang="en-US" dirty="0" err="1"/>
              <a:t>Addr</a:t>
            </a:r>
            <a:r>
              <a:rPr lang="en-US" dirty="0"/>
              <a:t>: 0x00000001 Data: 0xcafebabedeadbeef1122334455667789</a:t>
            </a:r>
          </a:p>
          <a:p>
            <a:r>
              <a:rPr lang="en-US" dirty="0"/>
              <a:t>[REGCTRL] READ OK   </a:t>
            </a:r>
            <a:r>
              <a:rPr lang="en-US" dirty="0" err="1"/>
              <a:t>Addr</a:t>
            </a:r>
            <a:r>
              <a:rPr lang="en-US" dirty="0"/>
              <a:t>: 0x00000002 Data: 0xcafebabedeadbeef112233445566778a</a:t>
            </a:r>
          </a:p>
          <a:p>
            <a:r>
              <a:rPr lang="en-US" dirty="0"/>
              <a:t>[REGCTRL] READ OK   </a:t>
            </a:r>
            <a:r>
              <a:rPr lang="en-US" dirty="0" err="1"/>
              <a:t>Addr</a:t>
            </a:r>
            <a:r>
              <a:rPr lang="en-US" dirty="0"/>
              <a:t>: 0x00000003 Data: 0xcafebabedeadbeef112233445566778b</a:t>
            </a:r>
          </a:p>
          <a:p>
            <a:r>
              <a:rPr lang="en-US" dirty="0"/>
              <a:t>[REGCTRL] Burst read complete and verified.</a:t>
            </a:r>
          </a:p>
          <a:p>
            <a:r>
              <a:rPr lang="en-US" dirty="0"/>
              <a:t>Final Read Result: cafebabedeadbeef112233445566778b</a:t>
            </a:r>
          </a:p>
          <a:p>
            <a:r>
              <a:rPr lang="en-US" dirty="0"/>
              <a:t>Status: 01[REGCTRL] Returning to IDLE.</a:t>
            </a:r>
          </a:p>
        </p:txBody>
      </p:sp>
    </p:spTree>
    <p:extLst>
      <p:ext uri="{BB962C8B-B14F-4D97-AF65-F5344CB8AC3E}">
        <p14:creationId xmlns:p14="http://schemas.microsoft.com/office/powerpoint/2010/main" val="2108037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E1FA9-095D-E086-1F3C-32960095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540BA-1C83-63FB-4F2C-14C4043B9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6291" y="254643"/>
            <a:ext cx="5074920" cy="72493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Version 4 - concept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D98BFF-670A-0005-E63A-E7B3C48DD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8D9E4F-184D-D80C-7D3B-055BFAB3DA1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9913" r="19913"/>
          <a:stretch>
            <a:fillRect/>
          </a:stretch>
        </p:blipFill>
        <p:spPr/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F54032-58B3-9B6E-DBCC-9F4FD09184D3}"/>
              </a:ext>
            </a:extLst>
          </p:cNvPr>
          <p:cNvSpPr txBox="1">
            <a:spLocks/>
          </p:cNvSpPr>
          <p:nvPr/>
        </p:nvSpPr>
        <p:spPr>
          <a:xfrm>
            <a:off x="6576291" y="1930400"/>
            <a:ext cx="5615708" cy="49211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Added Exhaustive Testbench</a:t>
            </a:r>
          </a:p>
          <a:p>
            <a:pPr lvl="1"/>
            <a:r>
              <a:rPr lang="en-US" dirty="0"/>
              <a:t>64 bursts spanning 256 addresses</a:t>
            </a:r>
          </a:p>
          <a:p>
            <a:pPr lvl="1"/>
            <a:r>
              <a:rPr lang="en-US" dirty="0"/>
              <a:t>128’b data pattern = {96'hCAFEBABEDEADBEEF11223344 ^ </a:t>
            </a:r>
            <a:r>
              <a:rPr lang="en-US" dirty="0" err="1"/>
              <a:t>i</a:t>
            </a:r>
            <a:r>
              <a:rPr lang="en-US" dirty="0"/>
              <a:t>, 32’b </a:t>
            </a:r>
            <a:r>
              <a:rPr lang="en-US" dirty="0" err="1"/>
              <a:t>i</a:t>
            </a:r>
            <a:r>
              <a:rPr lang="en-US" dirty="0"/>
              <a:t> ^ (</a:t>
            </a:r>
            <a:r>
              <a:rPr lang="en-US" dirty="0" err="1"/>
              <a:t>i</a:t>
            </a:r>
            <a:r>
              <a:rPr lang="en-US" dirty="0"/>
              <a:t> &lt;&lt; 2)}; </a:t>
            </a:r>
          </a:p>
          <a:p>
            <a:pPr lvl="1"/>
            <a:endParaRPr lang="en-US" dirty="0"/>
          </a:p>
          <a:p>
            <a:r>
              <a:rPr lang="en-US" dirty="0"/>
              <a:t>No changes to other modules</a:t>
            </a:r>
          </a:p>
        </p:txBody>
      </p:sp>
    </p:spTree>
    <p:extLst>
      <p:ext uri="{BB962C8B-B14F-4D97-AF65-F5344CB8AC3E}">
        <p14:creationId xmlns:p14="http://schemas.microsoft.com/office/powerpoint/2010/main" val="31949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DEBA8-FD91-6A73-0E14-AED295D7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9F01-23BB-6574-3DDC-016B164B5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simulation results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17CFC2-D7D1-E02E-2959-5C26DEB5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50" r="12044" b="-2"/>
          <a:stretch/>
        </p:blipFill>
        <p:spPr>
          <a:xfrm>
            <a:off x="20" y="-5080"/>
            <a:ext cx="657627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696338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5E7B4F-B0FE-30CA-8537-37450D64C0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96" b="6370"/>
          <a:stretch/>
        </p:blipFill>
        <p:spPr>
          <a:xfrm>
            <a:off x="0" y="0"/>
            <a:ext cx="12192000" cy="5577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71CA4-E495-DB02-7103-440C42F587AB}"/>
              </a:ext>
            </a:extLst>
          </p:cNvPr>
          <p:cNvSpPr txBox="1"/>
          <p:nvPr/>
        </p:nvSpPr>
        <p:spPr>
          <a:xfrm>
            <a:off x="4130040" y="5994400"/>
            <a:ext cx="3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Waves for the first two bursts</a:t>
            </a:r>
          </a:p>
        </p:txBody>
      </p:sp>
    </p:spTree>
    <p:extLst>
      <p:ext uri="{BB962C8B-B14F-4D97-AF65-F5344CB8AC3E}">
        <p14:creationId xmlns:p14="http://schemas.microsoft.com/office/powerpoint/2010/main" val="3152890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89327D-5D8E-CE92-9D37-A4A6B29F2E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22" b="-1777"/>
          <a:stretch/>
        </p:blipFill>
        <p:spPr>
          <a:xfrm>
            <a:off x="0" y="0"/>
            <a:ext cx="12192000" cy="60045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6B27DC-F849-9AD1-FBAD-9A751B781F6E}"/>
              </a:ext>
            </a:extLst>
          </p:cNvPr>
          <p:cNvSpPr txBox="1"/>
          <p:nvPr/>
        </p:nvSpPr>
        <p:spPr>
          <a:xfrm>
            <a:off x="4130040" y="6106160"/>
            <a:ext cx="393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Waves for the last two bursts</a:t>
            </a:r>
          </a:p>
        </p:txBody>
      </p:sp>
    </p:spTree>
    <p:extLst>
      <p:ext uri="{BB962C8B-B14F-4D97-AF65-F5344CB8AC3E}">
        <p14:creationId xmlns:p14="http://schemas.microsoft.com/office/powerpoint/2010/main" val="810205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909" y="378460"/>
            <a:ext cx="3689622" cy="124841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conclusion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54000" y="1767839"/>
            <a:ext cx="4409440" cy="428370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iteration brings the model closer to a realistic memory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Gained experience with FIFO, FSM, and modular systems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77307DB0-E881-EC9F-743E-D4100FF1DE4B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149163132"/>
              </p:ext>
            </p:extLst>
          </p:nvPr>
        </p:nvGraphicFramePr>
        <p:xfrm>
          <a:off x="4907280" y="43180"/>
          <a:ext cx="7137399" cy="6771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79133">
                  <a:extLst>
                    <a:ext uri="{9D8B030D-6E8A-4147-A177-3AD203B41FA5}">
                      <a16:colId xmlns:a16="http://schemas.microsoft.com/office/drawing/2014/main" val="1124437923"/>
                    </a:ext>
                  </a:extLst>
                </a:gridCol>
                <a:gridCol w="2379133">
                  <a:extLst>
                    <a:ext uri="{9D8B030D-6E8A-4147-A177-3AD203B41FA5}">
                      <a16:colId xmlns:a16="http://schemas.microsoft.com/office/drawing/2014/main" val="1013175536"/>
                    </a:ext>
                  </a:extLst>
                </a:gridCol>
                <a:gridCol w="2379133">
                  <a:extLst>
                    <a:ext uri="{9D8B030D-6E8A-4147-A177-3AD203B41FA5}">
                      <a16:colId xmlns:a16="http://schemas.microsoft.com/office/drawing/2014/main" val="289892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Major Additions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508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Version 1: Basic Single Transfer FSM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FSM: S_IDLE → S_WRITE → S_WRITE_WAIT → S_READ → S_READ_WAIT → S_COMPARE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🔸 Basic read/write logic </a:t>
                      </a:r>
                      <a:br>
                        <a:rPr lang="en-US" dirty="0"/>
                      </a:br>
                      <a:r>
                        <a:rPr lang="en-US" dirty="0"/>
                        <a:t>🔸 Latency measurement per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722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Version 2: Burst Read/Write FSM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FSM enhanced for bursts</a:t>
                      </a:r>
                      <a:br>
                        <a:rPr lang="en-US" dirty="0"/>
                      </a:br>
                      <a:r>
                        <a:rPr lang="en-US" dirty="0"/>
                        <a:t>- Handles BURST_LENGTH reads/writes per cycle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🔸S_WRITE_BURST, S_READ_BURST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🔸Internal </a:t>
                      </a:r>
                      <a:r>
                        <a:rPr lang="en-US" dirty="0" err="1"/>
                        <a:t>burst_counter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74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Version 3: Register-Based Front-End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Host (CPU/testbench) triggers operations via registers </a:t>
                      </a:r>
                      <a:br>
                        <a:rPr lang="en-US" dirty="0"/>
                      </a:br>
                      <a:r>
                        <a:rPr lang="en-US" dirty="0"/>
                        <a:t>- FSM responds to register writes instead of auto-running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🔸Full register file interface </a:t>
                      </a:r>
                      <a:br>
                        <a:rPr lang="en-US" dirty="0"/>
                      </a:br>
                      <a:r>
                        <a:rPr lang="en-US" dirty="0"/>
                        <a:t>🔸 Peripheral-style operation (like AXI-lite)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90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Version 4: Stress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Writes/reads hundreds of addresses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🔸Stress testing across 256+ bursts </a:t>
                      </a:r>
                      <a:br>
                        <a:rPr lang="en-US" dirty="0"/>
                      </a:br>
                      <a:r>
                        <a:rPr lang="en-US" dirty="0"/>
                        <a:t>🔸 Randomized pattern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856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/>
          <a:p>
            <a:r>
              <a:rPr lang="en-US" dirty="0"/>
              <a:t>References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/>
              <a:t>[1] JEDEC Solid State Technology Association, "DDR3 SDRAM Specification (JESD79-3F)," 2010.</a:t>
            </a:r>
          </a:p>
          <a:p>
            <a:pPr>
              <a:buNone/>
            </a:pPr>
            <a:r>
              <a:rPr lang="en-US"/>
              <a:t>[2] ARM Ltd., "AMBA AXI and ACE Protocol Specification," 2011.</a:t>
            </a:r>
          </a:p>
          <a:p>
            <a:pPr>
              <a:buNone/>
            </a:pPr>
            <a:r>
              <a:rPr lang="en-US"/>
              <a:t>[3] P. P. Chu, </a:t>
            </a:r>
            <a:r>
              <a:rPr lang="en-US" i="1"/>
              <a:t>FPGA Prototyping by Verilog Examples: Xilinx Spartan-3 Version</a:t>
            </a:r>
            <a:r>
              <a:rPr lang="en-US"/>
              <a:t>, Wiley, 2008.</a:t>
            </a:r>
          </a:p>
          <a:p>
            <a:pPr>
              <a:buNone/>
            </a:pPr>
            <a:r>
              <a:rPr lang="en-US"/>
              <a:t>[4] Doulos Ltd., </a:t>
            </a:r>
            <a:r>
              <a:rPr lang="en-US" i="1" err="1"/>
              <a:t>SystemVerilog</a:t>
            </a:r>
            <a:r>
              <a:rPr lang="en-US" i="1"/>
              <a:t> for Design and Verification</a:t>
            </a:r>
            <a:r>
              <a:rPr lang="en-US"/>
              <a:t>, training material, 2015.</a:t>
            </a:r>
          </a:p>
          <a:p>
            <a:r>
              <a:rPr lang="en-US"/>
              <a:t>[5] Xilinx, </a:t>
            </a:r>
            <a:r>
              <a:rPr lang="en-US" i="1"/>
              <a:t>Memory Interface Solutions User Guide (UG086)</a:t>
            </a:r>
            <a:r>
              <a:rPr lang="en-US"/>
              <a:t>, 2019.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BAA3-0E92-594D-FC76-6CD8F560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D659-C0BB-7E6C-E6E2-36233295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spc="150" baseline="0" dirty="0">
                <a:latin typeface="+mj-lt"/>
                <a:ea typeface="+mj-ea"/>
                <a:cs typeface="+mj-cs"/>
              </a:rPr>
              <a:t>Appendix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636C2EE-47E0-492B-C25A-660603438CF4}"/>
              </a:ext>
            </a:extLst>
          </p:cNvPr>
          <p:cNvSpPr txBox="1">
            <a:spLocks/>
          </p:cNvSpPr>
          <p:nvPr/>
        </p:nvSpPr>
        <p:spPr>
          <a:xfrm>
            <a:off x="1322388" y="2763079"/>
            <a:ext cx="5935212" cy="376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spc="50"/>
              <a:t>https://github.com/danielcelnik1/526-Final-Project.git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D79AC5D-2BDA-D7C8-2CBA-433E5739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252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1645</TotalTime>
  <Words>1488</Words>
  <Application>Microsoft Office PowerPoint</Application>
  <PresentationFormat>Widescreen</PresentationFormat>
  <Paragraphs>207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Tenorite</vt:lpstr>
      <vt:lpstr>Custom</vt:lpstr>
      <vt:lpstr>ECE 526 Final Project Presentation By: Daniel Celnik Instructor: orod haghighiara</vt:lpstr>
      <vt:lpstr>AGENDA</vt:lpstr>
      <vt:lpstr>Introduction</vt:lpstr>
      <vt:lpstr>Project Overview</vt:lpstr>
      <vt:lpstr>Version 1 - Concept</vt:lpstr>
      <vt:lpstr>Implementation</vt:lpstr>
      <vt:lpstr>simulation results</vt:lpstr>
      <vt:lpstr>Version 2 - Concept</vt:lpstr>
      <vt:lpstr>simulation results - Waves</vt:lpstr>
      <vt:lpstr>simulation results - log</vt:lpstr>
      <vt:lpstr>Version 3 - Concept</vt:lpstr>
      <vt:lpstr>simulation results - waves</vt:lpstr>
      <vt:lpstr>Simulation Results - log</vt:lpstr>
      <vt:lpstr>Version 4 - concept</vt:lpstr>
      <vt:lpstr>simulation results</vt:lpstr>
      <vt:lpstr>PowerPoint Presentation</vt:lpstr>
      <vt:lpstr>PowerPoint Presentation</vt:lpstr>
      <vt:lpstr>conclusion</vt:lpstr>
      <vt:lpstr>References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Celnik, Daniel E</dc:creator>
  <cp:lastModifiedBy>Celnik, Daniel E</cp:lastModifiedBy>
  <cp:revision>4</cp:revision>
  <dcterms:created xsi:type="dcterms:W3CDTF">2025-04-29T18:55:40Z</dcterms:created>
  <dcterms:modified xsi:type="dcterms:W3CDTF">2025-05-02T20:00:05Z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